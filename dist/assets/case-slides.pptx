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496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62B48"/>
                </a:solidFill>
                <a:latin typeface="Aptos"/>
              </a:rPr>
              <a:t>E-Waste &amp; Circular Economy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1A7D82"/>
                </a:solidFill>
                <a:latin typeface="Aptos"/>
              </a:rPr>
              <a:t>Five Case Studies — One Complete Case Study per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32A30"/>
                </a:solidFill>
                <a:latin typeface="Aptos"/>
              </a:rPr>
              <a:t>Japan • Switzerland • India’s E-Waste Management Rules 2022
Pune’s SWaCH Model • Dell’s Circular Economy 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4297680" cy="822960"/>
          </a:xfrm>
          <a:prstGeom prst="roundRect">
            <a:avLst/>
          </a:prstGeom>
          <a:solidFill>
            <a:srgbClr val="E7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5193792"/>
            <a:ext cx="38404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232A30"/>
                </a:solidFill>
                <a:latin typeface="Aptos"/>
              </a:rPr>
              <a:t>Name: Laxmi Bonde</a:t>
            </a:r>
            <a:r>
              <a:rPr lang="en-US" sz="1400" b="0" dirty="0">
                <a:solidFill>
                  <a:srgbClr val="232A30"/>
                </a:solidFill>
                <a:latin typeface="Aptos"/>
              </a:rPr>
              <a:t> (24102A0049)</a:t>
            </a:r>
            <a:r>
              <a:rPr sz="1400" b="0" dirty="0">
                <a:solidFill>
                  <a:srgbClr val="232A30"/>
                </a:solidFill>
                <a:latin typeface="Aptos"/>
              </a:rPr>
              <a:t>
</a:t>
            </a:r>
            <a:r>
              <a:rPr lang="en-US" sz="1400" dirty="0">
                <a:solidFill>
                  <a:srgbClr val="232A30"/>
                </a:solidFill>
                <a:latin typeface="Aptos"/>
              </a:rPr>
              <a:t>               Satyam </a:t>
            </a:r>
            <a:r>
              <a:rPr lang="en-US" sz="1400" dirty="0" err="1">
                <a:solidFill>
                  <a:srgbClr val="232A30"/>
                </a:solidFill>
                <a:latin typeface="Aptos"/>
              </a:rPr>
              <a:t>Revgade</a:t>
            </a:r>
            <a:r>
              <a:rPr lang="en-US" sz="1400" dirty="0">
                <a:solidFill>
                  <a:srgbClr val="232A30"/>
                </a:solidFill>
                <a:latin typeface="Aptos"/>
              </a:rPr>
              <a:t> (24102A0035)</a:t>
            </a:r>
            <a:endParaRPr sz="1400" b="0" dirty="0">
              <a:solidFill>
                <a:srgbClr val="232A3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A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28600"/>
            <a:ext cx="11430000" cy="43891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50" b="1">
                <a:solidFill>
                  <a:srgbClr val="162B48"/>
                </a:solidFill>
                <a:latin typeface="Aptos"/>
              </a:rPr>
              <a:t>Case Study 1 — Why Japan Recycles More Than Most Countries: Lessons for India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804672"/>
            <a:ext cx="36576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" y="877824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133856"/>
            <a:ext cx="3438144" cy="7498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232A30"/>
                </a:solidFill>
                <a:latin typeface="Aptos"/>
              </a:rPr>
              <a:t>Japan combines the 3R hierarchy, strict source segregation, product-specific recycling laws and disciplined municipal collection. Its low-landfill performance depends on prevention, recycling and controlled incineration—not recycling alone.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78808" y="804672"/>
            <a:ext cx="36576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88536" y="877824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8536" y="1133856"/>
            <a:ext cx="3438144" cy="7498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232A30"/>
                </a:solidFill>
                <a:latin typeface="Aptos"/>
              </a:rPr>
              <a:t>Limited landfill space, dense cities and long-term resource-conservation policy led Japan to build a ‘sound material-cycle society’ with strong household participation.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804672"/>
            <a:ext cx="3822191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83296" y="877824"/>
            <a:ext cx="3602735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Strategy / Initiative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33856"/>
            <a:ext cx="3602735" cy="7498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232A30"/>
                </a:solidFill>
                <a:latin typeface="Aptos"/>
              </a:rPr>
              <a:t>• Reduce → Reuse → Recycle
• Detailed source segregation
• Producer/consumer responsibility
• Scheduled municipal collection
• Controlled incineration with energy recovery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03120"/>
            <a:ext cx="36576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" y="2176272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Impact &amp; Results —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50591"/>
            <a:ext cx="3511296" cy="372618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" y="2478023"/>
            <a:ext cx="226771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232A30"/>
                </a:solidFill>
                <a:latin typeface="Aptos"/>
              </a:rPr>
              <a:t>Recycling rate, FY2024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478023"/>
            <a:ext cx="98755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162B48"/>
                </a:solidFill>
                <a:latin typeface="Aptos"/>
              </a:rPr>
              <a:t>19.3%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2850641"/>
            <a:ext cx="226771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232A30"/>
                </a:solidFill>
                <a:latin typeface="Aptos"/>
              </a:rPr>
              <a:t>Recycled municipal waste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850641"/>
            <a:ext cx="98755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162B48"/>
                </a:solidFill>
                <a:latin typeface="Aptos"/>
              </a:rPr>
              <a:t>7.38 Mt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95827"/>
            <a:ext cx="3511296" cy="372618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" y="3223259"/>
            <a:ext cx="226771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232A30"/>
                </a:solidFill>
                <a:latin typeface="Aptos"/>
              </a:rPr>
              <a:t>Landfilled waste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223259"/>
            <a:ext cx="98755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162B48"/>
                </a:solidFill>
                <a:latin typeface="Aptos"/>
              </a:rPr>
              <a:t>3.06 Mt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3595877"/>
            <a:ext cx="226771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232A30"/>
                </a:solidFill>
                <a:latin typeface="Aptos"/>
              </a:rPr>
              <a:t>Waste reduction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595877"/>
            <a:ext cx="98755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162B48"/>
                </a:solidFill>
                <a:latin typeface="Aptos"/>
              </a:rPr>
              <a:t>99.2%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78808" y="2103120"/>
            <a:ext cx="36576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88536" y="2176272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SWOT Analysis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88536" y="2450591"/>
            <a:ext cx="256032" cy="256032"/>
          </a:xfrm>
          <a:prstGeom prst="roundRect">
            <a:avLst/>
          </a:prstGeom>
          <a:solidFill>
            <a:srgbClr val="E7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88536" y="2464308"/>
            <a:ext cx="256032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62B48"/>
                </a:solidFill>
                <a:latin typeface="Aptos"/>
              </a:rPr>
              <a:t>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2450591"/>
            <a:ext cx="312724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232A30"/>
                </a:solidFill>
                <a:latin typeface="Aptos"/>
              </a:rPr>
              <a:t>Strong segregation culture &amp; clear laws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88536" y="2798063"/>
            <a:ext cx="256032" cy="256032"/>
          </a:xfrm>
          <a:prstGeom prst="roundRect">
            <a:avLst/>
          </a:prstGeom>
          <a:solidFill>
            <a:srgbClr val="E7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88536" y="2811779"/>
            <a:ext cx="256032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62B48"/>
                </a:solidFill>
                <a:latin typeface="Aptos"/>
              </a:rPr>
              <a:t>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9432" y="2798063"/>
            <a:ext cx="312724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232A30"/>
                </a:solidFill>
                <a:latin typeface="Aptos"/>
              </a:rPr>
              <a:t>Complex rules; high system/incineration cost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88536" y="3145535"/>
            <a:ext cx="256032" cy="256032"/>
          </a:xfrm>
          <a:prstGeom prst="roundRect">
            <a:avLst/>
          </a:prstGeom>
          <a:solidFill>
            <a:srgbClr val="E7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88536" y="3159251"/>
            <a:ext cx="256032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62B48"/>
                </a:solidFill>
                <a:latin typeface="Aptos"/>
              </a:rPr>
              <a:t>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9432" y="3145535"/>
            <a:ext cx="312724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232A30"/>
                </a:solidFill>
                <a:latin typeface="Aptos"/>
              </a:rPr>
              <a:t>More reuse, repair &amp; advanced recovery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88536" y="3493007"/>
            <a:ext cx="256032" cy="256032"/>
          </a:xfrm>
          <a:prstGeom prst="roundRect">
            <a:avLst/>
          </a:prstGeom>
          <a:solidFill>
            <a:srgbClr val="E7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88536" y="3506723"/>
            <a:ext cx="256032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62B48"/>
                </a:solidFill>
                <a:latin typeface="Aptos"/>
              </a:rPr>
              <a:t>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99432" y="3493007"/>
            <a:ext cx="312724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232A30"/>
                </a:solidFill>
                <a:latin typeface="Aptos"/>
              </a:rPr>
              <a:t>Ageing infrastructure; complex new waste streams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73568" y="2103120"/>
            <a:ext cx="3822191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83296" y="2176272"/>
            <a:ext cx="3602735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Comparison with India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83296" y="2432303"/>
            <a:ext cx="3602735" cy="14813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232A30"/>
                </a:solidFill>
                <a:latin typeface="Aptos"/>
              </a:rPr>
              <a:t>India has EPR rules but uneven segregation and collection. Japan’s strongest lesson is predictable household segregation and accountability; India should also integrate informal waste workers.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4048" y="4133087"/>
            <a:ext cx="36576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3776" y="4206240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Recommendations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" y="4462272"/>
            <a:ext cx="3438144" cy="93268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232A30"/>
                </a:solidFill>
                <a:latin typeface="Aptos"/>
              </a:rPr>
              <a:t>Standardise segregation; strengthen take-back; expand public education; integrate waste pickers; prioritise reduction/reuse before end-of-pipe recycling.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78808" y="4133087"/>
            <a:ext cx="36576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88536" y="4206240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Conclusion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88536" y="4462272"/>
            <a:ext cx="3438144" cy="93268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232A30"/>
                </a:solidFill>
                <a:latin typeface="Aptos"/>
              </a:rPr>
              <a:t>Japan shows that successful waste management is a coordinated system of behaviour, law, infrastructure and producer responsibility.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73568" y="4133087"/>
            <a:ext cx="3822191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083296" y="4206240"/>
            <a:ext cx="3602735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References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83296" y="4462272"/>
            <a:ext cx="3602735" cy="93268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232A30"/>
                </a:solidFill>
                <a:latin typeface="Aptos"/>
              </a:rPr>
              <a:t>METI 3R Policies; Japan Ministry of Environment FY2024 municipal-waste data; CPCB E-Waste Rules 2022.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4048" y="5650992"/>
            <a:ext cx="11411712" cy="621792"/>
          </a:xfrm>
          <a:prstGeom prst="round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66928" y="5797296"/>
            <a:ext cx="110185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All required report points condensed onto one slide for presentation.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B666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A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28600"/>
            <a:ext cx="11430000" cy="43891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50" b="1">
                <a:solidFill>
                  <a:srgbClr val="162B48"/>
                </a:solidFill>
                <a:latin typeface="Aptos"/>
              </a:rPr>
              <a:t>Case Study 2 — Switzerland’s E-Waste Success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804672"/>
            <a:ext cx="36576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" y="877824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133856"/>
            <a:ext cx="3438144" cy="7498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232A30"/>
                </a:solidFill>
                <a:latin typeface="Aptos"/>
              </a:rPr>
              <a:t>Switzerland uses a mature producer-led take-back system financed through an advance recycling contribution. Consumers can return covered electronics through dealers and official collection points without a separate disposal fee.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78808" y="804672"/>
            <a:ext cx="36576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88536" y="877824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8536" y="1133856"/>
            <a:ext cx="3438144" cy="7498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232A30"/>
                </a:solidFill>
                <a:latin typeface="Aptos"/>
              </a:rPr>
              <a:t>To safely recover valuable materials and control hazardous fractions, Switzerland created cooperative take-back organisations with clear equipment categories and certified recycling partners.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804672"/>
            <a:ext cx="3822191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83296" y="877824"/>
            <a:ext cx="3602735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Strategy / Initiative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33856"/>
            <a:ext cx="3602735" cy="7498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232A30"/>
                </a:solidFill>
                <a:latin typeface="Aptos"/>
              </a:rPr>
              <a:t>• Advance recycling contribution
• Dealer + official collection network
• Producer/importer cooperation
• Certified recyclers
• Data-protection requirements for returned devices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03120"/>
            <a:ext cx="36576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" y="2176272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Impact &amp; Results —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50591"/>
            <a:ext cx="3511296" cy="372618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" y="2478023"/>
            <a:ext cx="226771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232A30"/>
                </a:solidFill>
                <a:latin typeface="Aptos"/>
              </a:rPr>
              <a:t>Swico operating since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478023"/>
            <a:ext cx="98755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162B48"/>
                </a:solidFill>
                <a:latin typeface="Aptos"/>
              </a:rPr>
              <a:t>1994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2850641"/>
            <a:ext cx="226771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232A30"/>
                </a:solidFill>
                <a:latin typeface="Aptos"/>
              </a:rPr>
              <a:t>Equipment recycled, 2018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850641"/>
            <a:ext cx="98755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162B48"/>
                </a:solidFill>
                <a:latin typeface="Aptos"/>
              </a:rPr>
              <a:t>&gt;46,000 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95827"/>
            <a:ext cx="3511296" cy="372618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" y="3223259"/>
            <a:ext cx="226771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232A30"/>
                </a:solidFill>
                <a:latin typeface="Aptos"/>
              </a:rPr>
              <a:t>Swico signatories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223259"/>
            <a:ext cx="98755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162B48"/>
                </a:solidFill>
                <a:latin typeface="Aptos"/>
              </a:rPr>
              <a:t>760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3595877"/>
            <a:ext cx="226771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232A30"/>
                </a:solidFill>
                <a:latin typeface="Aptos"/>
              </a:rPr>
              <a:t>Separate return charge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595877"/>
            <a:ext cx="98755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162B48"/>
                </a:solidFill>
                <a:latin typeface="Aptos"/>
              </a:rPr>
              <a:t>None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78808" y="2103120"/>
            <a:ext cx="36576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88536" y="2176272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SWOT Analysis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88536" y="2450591"/>
            <a:ext cx="256032" cy="256032"/>
          </a:xfrm>
          <a:prstGeom prst="roundRect">
            <a:avLst/>
          </a:prstGeom>
          <a:solidFill>
            <a:srgbClr val="E7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88536" y="2464308"/>
            <a:ext cx="256032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62B48"/>
                </a:solidFill>
                <a:latin typeface="Aptos"/>
              </a:rPr>
              <a:t>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2450591"/>
            <a:ext cx="312724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232A30"/>
                </a:solidFill>
                <a:latin typeface="Aptos"/>
              </a:rPr>
              <a:t>Convenient national take-back &amp; stable finance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88536" y="2798063"/>
            <a:ext cx="256032" cy="256032"/>
          </a:xfrm>
          <a:prstGeom prst="roundRect">
            <a:avLst/>
          </a:prstGeom>
          <a:solidFill>
            <a:srgbClr val="E7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88536" y="2811779"/>
            <a:ext cx="256032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62B48"/>
                </a:solidFill>
                <a:latin typeface="Aptos"/>
              </a:rPr>
              <a:t>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9432" y="2798063"/>
            <a:ext cx="312724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232A30"/>
                </a:solidFill>
                <a:latin typeface="Aptos"/>
              </a:rPr>
              <a:t>Administration and compliance costs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88536" y="3145535"/>
            <a:ext cx="256032" cy="256032"/>
          </a:xfrm>
          <a:prstGeom prst="roundRect">
            <a:avLst/>
          </a:prstGeom>
          <a:solidFill>
            <a:srgbClr val="E7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88536" y="3159251"/>
            <a:ext cx="256032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62B48"/>
                </a:solidFill>
                <a:latin typeface="Aptos"/>
              </a:rPr>
              <a:t>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9432" y="3145535"/>
            <a:ext cx="312724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232A30"/>
                </a:solidFill>
                <a:latin typeface="Aptos"/>
              </a:rPr>
              <a:t>Critical-mineral recovery &amp; refurbishment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88536" y="3493007"/>
            <a:ext cx="256032" cy="256032"/>
          </a:xfrm>
          <a:prstGeom prst="roundRect">
            <a:avLst/>
          </a:prstGeom>
          <a:solidFill>
            <a:srgbClr val="E7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88536" y="3506723"/>
            <a:ext cx="256032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62B48"/>
                </a:solidFill>
                <a:latin typeface="Aptos"/>
              </a:rPr>
              <a:t>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99432" y="3493007"/>
            <a:ext cx="312724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232A30"/>
                </a:solidFill>
                <a:latin typeface="Aptos"/>
              </a:rPr>
              <a:t>Rapid turnover, battery risks, treatment costs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73568" y="2103120"/>
            <a:ext cx="3822191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83296" y="2176272"/>
            <a:ext cx="3602735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Comparison with India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83296" y="2432303"/>
            <a:ext cx="3602735" cy="14813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232A30"/>
                </a:solidFill>
                <a:latin typeface="Aptos"/>
              </a:rPr>
              <a:t>India relies on portal-based EPR certificates. Switzerland’s advantage is convenient physical take-back. India can combine its digital EPR system with denser, consumer-friendly collection points.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4048" y="4133087"/>
            <a:ext cx="36576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3776" y="4206240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Recommendations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" y="4462272"/>
            <a:ext cx="3438144" cy="93268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232A30"/>
                </a:solidFill>
                <a:latin typeface="Aptos"/>
              </a:rPr>
              <a:t>Expand authorised drop-off points; make return simple; strengthen recycler audits; add data-security guidance; link EPR finance to collection infrastructure.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78808" y="4133087"/>
            <a:ext cx="36576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88536" y="4206240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Conclusion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88536" y="4462272"/>
            <a:ext cx="3438144" cy="93268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232A30"/>
                </a:solidFill>
                <a:latin typeface="Aptos"/>
              </a:rPr>
              <a:t>Convenience, pre-financing, producer cooperation and professional recycling make the Swiss model highly effective and transferable in parts to India.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73568" y="4133087"/>
            <a:ext cx="3822191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083296" y="4206240"/>
            <a:ext cx="3602735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References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83296" y="4462272"/>
            <a:ext cx="3602735" cy="93268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232A30"/>
                </a:solidFill>
                <a:latin typeface="Aptos"/>
              </a:rPr>
              <a:t>Swico Recycling official system pages; CPCB E-Waste (Management) Rules 2022 FAQ; CPCB EPR Portal.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4048" y="5650992"/>
            <a:ext cx="11411712" cy="621792"/>
          </a:xfrm>
          <a:prstGeom prst="round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66928" y="5797296"/>
            <a:ext cx="110185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All required report points condensed onto one slide for presentation.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B666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A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28600"/>
            <a:ext cx="11430000" cy="43891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50" b="1">
                <a:solidFill>
                  <a:srgbClr val="162B48"/>
                </a:solidFill>
                <a:latin typeface="Aptos"/>
              </a:rPr>
              <a:t>Case Study 3 — India’s E-Waste Management Rules 2022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804672"/>
            <a:ext cx="36576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" y="877824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133856"/>
            <a:ext cx="3438144" cy="7498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232A30"/>
                </a:solidFill>
                <a:latin typeface="Aptos"/>
              </a:rPr>
              <a:t>The E-Waste (Management) Rules, 2022 came into force on 1 April 2023 and created a portal-based EPR system in which registered recyclers generate certificates used by producers to meet recycling obligations.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78808" y="804672"/>
            <a:ext cx="36576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88536" y="877824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8536" y="1133856"/>
            <a:ext cx="3438144" cy="7498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232A30"/>
                </a:solidFill>
                <a:latin typeface="Aptos"/>
              </a:rPr>
              <a:t>Rapid electronics consumption created a growing e-waste stream. The 2022 framework expanded product coverage and shifted compliance toward digital registration, recycling targets and certificate tracking.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804672"/>
            <a:ext cx="3822191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83296" y="877824"/>
            <a:ext cx="3602735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Strategy / Initiative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33856"/>
            <a:ext cx="3602735" cy="7498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232A30"/>
                </a:solidFill>
                <a:latin typeface="Aptos"/>
              </a:rPr>
              <a:t>• CPCB portal registration
• Producer recycling targets
• Recycler-generated EPR certificates
• Refurbishing certificates
• Environmental compensation + audit provisions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03120"/>
            <a:ext cx="36576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" y="2176272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Impact &amp; Results —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50591"/>
            <a:ext cx="3511296" cy="372618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" y="2478023"/>
            <a:ext cx="226771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232A30"/>
                </a:solidFill>
                <a:latin typeface="Aptos"/>
              </a:rPr>
              <a:t>Rules effective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478023"/>
            <a:ext cx="98755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162B48"/>
                </a:solidFill>
                <a:latin typeface="Aptos"/>
              </a:rPr>
              <a:t>1 Apr 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2850641"/>
            <a:ext cx="226771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232A30"/>
                </a:solidFill>
                <a:latin typeface="Aptos"/>
              </a:rPr>
              <a:t>EEE items covered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850641"/>
            <a:ext cx="98755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162B48"/>
                </a:solidFill>
                <a:latin typeface="Aptos"/>
              </a:rPr>
              <a:t>106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95827"/>
            <a:ext cx="3511296" cy="372618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" y="3223259"/>
            <a:ext cx="226771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232A30"/>
                </a:solidFill>
                <a:latin typeface="Aptos"/>
              </a:rPr>
              <a:t>FY2023–24 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223259"/>
            <a:ext cx="98755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162B48"/>
                </a:solidFill>
                <a:latin typeface="Aptos"/>
              </a:rPr>
              <a:t>1.254 Mt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3595877"/>
            <a:ext cx="226771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232A30"/>
                </a:solidFill>
                <a:latin typeface="Aptos"/>
              </a:rPr>
              <a:t>FY2024–25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595877"/>
            <a:ext cx="98755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162B48"/>
                </a:solidFill>
                <a:latin typeface="Aptos"/>
              </a:rPr>
              <a:t>1.398 Mt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78808" y="2103120"/>
            <a:ext cx="36576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88536" y="2176272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SWOT Analysis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88536" y="2450591"/>
            <a:ext cx="256032" cy="256032"/>
          </a:xfrm>
          <a:prstGeom prst="roundRect">
            <a:avLst/>
          </a:prstGeom>
          <a:solidFill>
            <a:srgbClr val="E7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88536" y="2464308"/>
            <a:ext cx="256032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62B48"/>
                </a:solidFill>
                <a:latin typeface="Aptos"/>
              </a:rPr>
              <a:t>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2450591"/>
            <a:ext cx="312724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232A30"/>
                </a:solidFill>
                <a:latin typeface="Aptos"/>
              </a:rPr>
              <a:t>National digital EPR architecture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88536" y="2798063"/>
            <a:ext cx="256032" cy="256032"/>
          </a:xfrm>
          <a:prstGeom prst="roundRect">
            <a:avLst/>
          </a:prstGeom>
          <a:solidFill>
            <a:srgbClr val="E7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88536" y="2811779"/>
            <a:ext cx="256032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62B48"/>
                </a:solidFill>
                <a:latin typeface="Aptos"/>
              </a:rPr>
              <a:t>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9432" y="2798063"/>
            <a:ext cx="312724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232A30"/>
                </a:solidFill>
                <a:latin typeface="Aptos"/>
              </a:rPr>
              <a:t>Informal-sector data and collection gaps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88536" y="3145535"/>
            <a:ext cx="256032" cy="256032"/>
          </a:xfrm>
          <a:prstGeom prst="roundRect">
            <a:avLst/>
          </a:prstGeom>
          <a:solidFill>
            <a:srgbClr val="E7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88536" y="3159251"/>
            <a:ext cx="256032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62B48"/>
                </a:solidFill>
                <a:latin typeface="Aptos"/>
              </a:rPr>
              <a:t>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9432" y="3145535"/>
            <a:ext cx="312724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232A30"/>
                </a:solidFill>
                <a:latin typeface="Aptos"/>
              </a:rPr>
              <a:t>Formalisation &amp; critical-mineral recovery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88536" y="3493007"/>
            <a:ext cx="256032" cy="256032"/>
          </a:xfrm>
          <a:prstGeom prst="roundRect">
            <a:avLst/>
          </a:prstGeom>
          <a:solidFill>
            <a:srgbClr val="E7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88536" y="3506723"/>
            <a:ext cx="256032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62B48"/>
                </a:solidFill>
                <a:latin typeface="Aptos"/>
              </a:rPr>
              <a:t>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99432" y="3493007"/>
            <a:ext cx="312724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232A30"/>
                </a:solidFill>
                <a:latin typeface="Aptos"/>
              </a:rPr>
              <a:t>Certificate fraud / weak verification risk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73568" y="2103120"/>
            <a:ext cx="3822191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83296" y="2176272"/>
            <a:ext cx="3602735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Comparison with India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83296" y="2432303"/>
            <a:ext cx="3602735" cy="14813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232A30"/>
                </a:solidFill>
                <a:latin typeface="Aptos"/>
              </a:rPr>
              <a:t>This is India’s national framework. Compared with Switzerland, digital compliance is stronger but consumer collection is less convenient; compared with Japan, household segregation is less institutionalised.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4048" y="4133087"/>
            <a:ext cx="36576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3776" y="4206240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Recommendations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" y="4462272"/>
            <a:ext cx="3438144" cy="93268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232A30"/>
                </a:solidFill>
                <a:latin typeface="Aptos"/>
              </a:rPr>
              <a:t>Strengthen audits; publish state/city dashboards; integrate informal collectors; expand collection in colleges/offices/housing societies; track actual material recovery.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78808" y="4133087"/>
            <a:ext cx="36576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88536" y="4206240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Conclusion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88536" y="4462272"/>
            <a:ext cx="3438144" cy="93268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232A30"/>
                </a:solidFill>
                <a:latin typeface="Aptos"/>
              </a:rPr>
              <a:t>The Rules modernise e-waste governance, but success depends on credible verification, convenient collection and safe formalisation of informal flows.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73568" y="4133087"/>
            <a:ext cx="3822191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083296" y="4206240"/>
            <a:ext cx="3602735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References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83296" y="4462272"/>
            <a:ext cx="3602735" cy="93268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232A30"/>
                </a:solidFill>
                <a:latin typeface="Aptos"/>
              </a:rPr>
              <a:t>MoEFCC E-Waste (Management) Rules 2022; CPCB FAQ; CPCB EPR Portal; CPCB e-waste generation reports.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4048" y="5650992"/>
            <a:ext cx="11411712" cy="621792"/>
          </a:xfrm>
          <a:prstGeom prst="round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66928" y="5797296"/>
            <a:ext cx="110185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All required report points condensed onto one slide for presentation.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B666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A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28600"/>
            <a:ext cx="11430000" cy="43891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50" b="1">
                <a:solidFill>
                  <a:srgbClr val="162B48"/>
                </a:solidFill>
                <a:latin typeface="Aptos"/>
              </a:rPr>
              <a:t>Case Study 4 — Pune’s SWaCH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804672"/>
            <a:ext cx="36576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" y="877824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133856"/>
            <a:ext cx="3438144" cy="7498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232A30"/>
                </a:solidFill>
                <a:latin typeface="Aptos"/>
              </a:rPr>
              <a:t>SWaCH is a cooperative of self-employed waste pickers created through collaboration between Pune Municipal Corporation and KKPKP. It integrates waste pickers into door-to-door segregated collection while preserving recyclable-value income.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78808" y="804672"/>
            <a:ext cx="36576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88536" y="877824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8536" y="1133856"/>
            <a:ext cx="3438144" cy="7498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232A30"/>
                </a:solidFill>
                <a:latin typeface="Aptos"/>
              </a:rPr>
              <a:t>Waste pickers already recovered recyclable materials but often lacked recognition and stable access. Pune formalised their role instead of replacing them with a fully contractor-driven system.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804672"/>
            <a:ext cx="3822191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83296" y="877824"/>
            <a:ext cx="3602735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Strategy / Initiative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33856"/>
            <a:ext cx="3602735" cy="7498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232A30"/>
                </a:solidFill>
                <a:latin typeface="Aptos"/>
              </a:rPr>
              <a:t>• Door-to-door wet/dry collection
• Waste-picker cooperative model
• User-fee income + recyclable recovery
• Municipal coordination
• Decentralised composting/biogas pathways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03120"/>
            <a:ext cx="36576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" y="2176272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Impact &amp; Results —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50591"/>
            <a:ext cx="3511296" cy="372618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" y="2478023"/>
            <a:ext cx="226771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232A30"/>
                </a:solidFill>
                <a:latin typeface="Aptos"/>
              </a:rPr>
              <a:t>PMC–SWaCH MoU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478023"/>
            <a:ext cx="98755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162B48"/>
                </a:solidFill>
                <a:latin typeface="Aptos"/>
              </a:rPr>
              <a:t>2008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2850641"/>
            <a:ext cx="226771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232A30"/>
                </a:solidFill>
                <a:latin typeface="Aptos"/>
              </a:rPr>
              <a:t>Members in cited snapshot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850641"/>
            <a:ext cx="98755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162B48"/>
                </a:solidFill>
                <a:latin typeface="Aptos"/>
              </a:rPr>
              <a:t>2,300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95827"/>
            <a:ext cx="3511296" cy="372618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" y="3223259"/>
            <a:ext cx="226771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232A30"/>
                </a:solidFill>
                <a:latin typeface="Aptos"/>
              </a:rPr>
              <a:t>Households serviced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223259"/>
            <a:ext cx="98755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162B48"/>
                </a:solidFill>
                <a:latin typeface="Aptos"/>
              </a:rPr>
              <a:t>378,419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3595877"/>
            <a:ext cx="226771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232A30"/>
                </a:solidFill>
                <a:latin typeface="Aptos"/>
              </a:rPr>
              <a:t>Coverage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595877"/>
            <a:ext cx="98755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162B48"/>
                </a:solidFill>
                <a:latin typeface="Aptos"/>
              </a:rPr>
              <a:t>76 prabhags / 15 wards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78808" y="2103120"/>
            <a:ext cx="36576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88536" y="2176272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SWOT Analysis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88536" y="2450591"/>
            <a:ext cx="256032" cy="256032"/>
          </a:xfrm>
          <a:prstGeom prst="roundRect">
            <a:avLst/>
          </a:prstGeom>
          <a:solidFill>
            <a:srgbClr val="E7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88536" y="2464308"/>
            <a:ext cx="256032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62B48"/>
                </a:solidFill>
                <a:latin typeface="Aptos"/>
              </a:rPr>
              <a:t>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2450591"/>
            <a:ext cx="312724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232A30"/>
                </a:solidFill>
                <a:latin typeface="Aptos"/>
              </a:rPr>
              <a:t>Inclusive livelihood + strong recycling incentive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88536" y="2798063"/>
            <a:ext cx="256032" cy="256032"/>
          </a:xfrm>
          <a:prstGeom prst="roundRect">
            <a:avLst/>
          </a:prstGeom>
          <a:solidFill>
            <a:srgbClr val="E7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88536" y="2811779"/>
            <a:ext cx="256032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62B48"/>
                </a:solidFill>
                <a:latin typeface="Aptos"/>
              </a:rPr>
              <a:t>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9432" y="2798063"/>
            <a:ext cx="312724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232A30"/>
                </a:solidFill>
                <a:latin typeface="Aptos"/>
              </a:rPr>
              <a:t>Depends on segregation and user-fee payment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88536" y="3145535"/>
            <a:ext cx="256032" cy="256032"/>
          </a:xfrm>
          <a:prstGeom prst="roundRect">
            <a:avLst/>
          </a:prstGeom>
          <a:solidFill>
            <a:srgbClr val="E7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88536" y="3159251"/>
            <a:ext cx="256032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62B48"/>
                </a:solidFill>
                <a:latin typeface="Aptos"/>
              </a:rPr>
              <a:t>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9432" y="3145535"/>
            <a:ext cx="312724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232A30"/>
                </a:solidFill>
                <a:latin typeface="Aptos"/>
              </a:rPr>
              <a:t>Replication + digital service management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88536" y="3493007"/>
            <a:ext cx="256032" cy="256032"/>
          </a:xfrm>
          <a:prstGeom prst="roundRect">
            <a:avLst/>
          </a:prstGeom>
          <a:solidFill>
            <a:srgbClr val="E7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88536" y="3506723"/>
            <a:ext cx="256032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62B48"/>
                </a:solidFill>
                <a:latin typeface="Aptos"/>
              </a:rPr>
              <a:t>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99432" y="3493007"/>
            <a:ext cx="312724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232A30"/>
                </a:solidFill>
                <a:latin typeface="Aptos"/>
              </a:rPr>
              <a:t>Privatisation, low recyclable prices, poor segregation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73568" y="2103120"/>
            <a:ext cx="3822191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83296" y="2176272"/>
            <a:ext cx="3602735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Comparison with India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83296" y="2432303"/>
            <a:ext cx="3602735" cy="14813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232A30"/>
                </a:solidFill>
                <a:latin typeface="Aptos"/>
              </a:rPr>
              <a:t>Unlike many Indian systems that leave waste pickers outside formal service delivery, Pune directly integrates them. This makes the model particularly relevant to other Indian cities.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4048" y="4133087"/>
            <a:ext cx="36576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3776" y="4206240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Recommendations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" y="4462272"/>
            <a:ext cx="3438144" cy="93268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232A30"/>
                </a:solidFill>
                <a:latin typeface="Aptos"/>
              </a:rPr>
              <a:t>Formal contracts and IDs; PPE/insurance; protect access to recyclables; municipal support for weak-income areas; annually measure diversion and worker income.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78808" y="4133087"/>
            <a:ext cx="36576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88536" y="4206240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Conclusion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88536" y="4462272"/>
            <a:ext cx="3438144" cy="93268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232A30"/>
                </a:solidFill>
                <a:latin typeface="Aptos"/>
              </a:rPr>
              <a:t>SWaCH proves that circular-economy systems can improve both environmental performance and livelihoods through organised inclusion.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73568" y="4133087"/>
            <a:ext cx="3822191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083296" y="4206240"/>
            <a:ext cx="3602735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References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83296" y="4462272"/>
            <a:ext cx="3602735" cy="93268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232A30"/>
                </a:solidFill>
                <a:latin typeface="Aptos"/>
              </a:rPr>
              <a:t>Swachh Bharat Urban: Zero Garbage and SWaCH Model Solid Waste Management in Pune; PMC/SWaCH institutional case material.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4048" y="5650992"/>
            <a:ext cx="11411712" cy="621792"/>
          </a:xfrm>
          <a:prstGeom prst="round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66928" y="5797296"/>
            <a:ext cx="110185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All required report points condensed onto one slide for presentation.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B666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A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28600"/>
            <a:ext cx="11430000" cy="43891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50" b="1">
                <a:solidFill>
                  <a:srgbClr val="162B48"/>
                </a:solidFill>
                <a:latin typeface="Aptos"/>
              </a:rPr>
              <a:t>Case Study 5 — Dell’s Circular Economy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804672"/>
            <a:ext cx="36576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" y="877824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133856"/>
            <a:ext cx="3438144" cy="7498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232A30"/>
                </a:solidFill>
                <a:latin typeface="Aptos"/>
              </a:rPr>
              <a:t>Dell applies circular-economy principles across product design, repair, refurbishment, material selection, take-back and recycling, aiming to keep products and materials in use for longer.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78808" y="804672"/>
            <a:ext cx="36576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88536" y="877824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8536" y="1133856"/>
            <a:ext cx="3438144" cy="7498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232A30"/>
                </a:solidFill>
                <a:latin typeface="Aptos"/>
              </a:rPr>
              <a:t>Electronics create material and carbon impacts throughout their lifecycle. Manufacturers can reduce waste upstream through durability, repairability, recycled materials and recovery design.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804672"/>
            <a:ext cx="3822191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83296" y="877824"/>
            <a:ext cx="3602735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Strategy / Initiative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33856"/>
            <a:ext cx="3602735" cy="7498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232A30"/>
                </a:solidFill>
                <a:latin typeface="Aptos"/>
              </a:rPr>
              <a:t>• Design for durability
• Repair + refurbishment
• Material optimisation
• Recycled/renewable materials
• Design for disassembly
• Consumer/business recovery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03120"/>
            <a:ext cx="36576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" y="2176272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Impact &amp; Results —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50591"/>
            <a:ext cx="3511296" cy="372618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" y="2478023"/>
            <a:ext cx="226771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232A30"/>
                </a:solidFill>
                <a:latin typeface="Aptos"/>
              </a:rPr>
              <a:t>India consumer recycling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478023"/>
            <a:ext cx="98755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162B48"/>
                </a:solidFill>
                <a:latin typeface="Aptos"/>
              </a:rPr>
              <a:t>Any-brand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2850641"/>
            <a:ext cx="226771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232A30"/>
                </a:solidFill>
                <a:latin typeface="Aptos"/>
              </a:rPr>
              <a:t>2030 renewable-energy goal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850641"/>
            <a:ext cx="98755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162B48"/>
                </a:solidFill>
                <a:latin typeface="Aptos"/>
              </a:rPr>
              <a:t>75%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95827"/>
            <a:ext cx="3511296" cy="372618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" y="3223259"/>
            <a:ext cx="226771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232A30"/>
                </a:solidFill>
                <a:latin typeface="Aptos"/>
              </a:rPr>
              <a:t>2040 renewable-energy 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223259"/>
            <a:ext cx="98755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162B48"/>
                </a:solidFill>
                <a:latin typeface="Aptos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3595877"/>
            <a:ext cx="226771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232A30"/>
                </a:solidFill>
                <a:latin typeface="Aptos"/>
              </a:rPr>
              <a:t>Circularity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595877"/>
            <a:ext cx="987552" cy="3360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162B48"/>
                </a:solidFill>
                <a:latin typeface="Aptos"/>
              </a:rPr>
              <a:t>Design → recovery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78808" y="2103120"/>
            <a:ext cx="36576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88536" y="2176272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SWOT Analysis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88536" y="2450591"/>
            <a:ext cx="256032" cy="256032"/>
          </a:xfrm>
          <a:prstGeom prst="roundRect">
            <a:avLst/>
          </a:prstGeom>
          <a:solidFill>
            <a:srgbClr val="E7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88536" y="2464308"/>
            <a:ext cx="256032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62B48"/>
                </a:solidFill>
                <a:latin typeface="Aptos"/>
              </a:rPr>
              <a:t>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2450591"/>
            <a:ext cx="312724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232A30"/>
                </a:solidFill>
                <a:latin typeface="Aptos"/>
              </a:rPr>
              <a:t>Manufacturer controls design &amp; global recovery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88536" y="2798063"/>
            <a:ext cx="256032" cy="256032"/>
          </a:xfrm>
          <a:prstGeom prst="roundRect">
            <a:avLst/>
          </a:prstGeom>
          <a:solidFill>
            <a:srgbClr val="E7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88536" y="2811779"/>
            <a:ext cx="256032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62B48"/>
                </a:solidFill>
                <a:latin typeface="Aptos"/>
              </a:rPr>
              <a:t>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9432" y="2798063"/>
            <a:ext cx="312724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232A30"/>
                </a:solidFill>
                <a:latin typeface="Aptos"/>
              </a:rPr>
              <a:t>Complex supply chain; participation needed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88536" y="3145535"/>
            <a:ext cx="256032" cy="256032"/>
          </a:xfrm>
          <a:prstGeom prst="roundRect">
            <a:avLst/>
          </a:prstGeom>
          <a:solidFill>
            <a:srgbClr val="E7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88536" y="3159251"/>
            <a:ext cx="256032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62B48"/>
                </a:solidFill>
                <a:latin typeface="Aptos"/>
              </a:rPr>
              <a:t>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9432" y="3145535"/>
            <a:ext cx="312724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232A30"/>
                </a:solidFill>
                <a:latin typeface="Aptos"/>
              </a:rPr>
              <a:t>Modular design &amp; closed-loop materials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88536" y="3493007"/>
            <a:ext cx="256032" cy="256032"/>
          </a:xfrm>
          <a:prstGeom prst="roundRect">
            <a:avLst/>
          </a:prstGeom>
          <a:solidFill>
            <a:srgbClr val="E7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88536" y="3506723"/>
            <a:ext cx="256032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62B48"/>
                </a:solidFill>
                <a:latin typeface="Aptos"/>
              </a:rPr>
              <a:t>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99432" y="3493007"/>
            <a:ext cx="3127248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232A30"/>
                </a:solidFill>
                <a:latin typeface="Aptos"/>
              </a:rPr>
              <a:t>Rapid innovation, supply risk, greenwashing risk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73568" y="2103120"/>
            <a:ext cx="3822191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83296" y="2176272"/>
            <a:ext cx="3602735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Comparison with India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83296" y="2432303"/>
            <a:ext cx="3602735" cy="14813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232A30"/>
                </a:solidFill>
                <a:latin typeface="Aptos"/>
              </a:rPr>
              <a:t>India’s EPR rules make producers responsible for end-of-life outcomes. Dell illustrates how firms can go beyond certificate compliance by combining EPR with repair, refurbishment and take-back.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4048" y="4133087"/>
            <a:ext cx="36576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3776" y="4206240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Recommendations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" y="4462272"/>
            <a:ext cx="3438144" cy="93268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232A30"/>
                </a:solidFill>
                <a:latin typeface="Aptos"/>
              </a:rPr>
              <a:t>Set India-specific take-back/reuse targets; publish recovery metrics; expand retail/doorstep collection; design replaceable components; partner with authorised recyclers and trained collectors.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78808" y="4133087"/>
            <a:ext cx="36576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88536" y="4206240"/>
            <a:ext cx="3438144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Conclusion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88536" y="4462272"/>
            <a:ext cx="3438144" cy="93268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232A30"/>
                </a:solidFill>
                <a:latin typeface="Aptos"/>
              </a:rPr>
              <a:t>Dell demonstrates that circular electronics begin at design and continue through repair, reuse and responsible recovery—not only end-of-life recycling.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73568" y="4133087"/>
            <a:ext cx="3822191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083296" y="4206240"/>
            <a:ext cx="3602735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7D82"/>
                </a:solidFill>
                <a:latin typeface="Aptos"/>
              </a:rPr>
              <a:t>References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83296" y="4462272"/>
            <a:ext cx="3602735" cy="93268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232A30"/>
                </a:solidFill>
                <a:latin typeface="Aptos"/>
              </a:rPr>
              <a:t>Dell Technologies India: Accelerating the Circular Economy; Responsible Recovery &amp; Recycling; Dell ESG resources; CPCB EPR Portal.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4048" y="5650992"/>
            <a:ext cx="11411712" cy="621792"/>
          </a:xfrm>
          <a:prstGeom prst="round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66928" y="5797296"/>
            <a:ext cx="110185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All required report points condensed onto one slide for presentation.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B666F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7A232B3FA31C48ADAF29702DE3C893" ma:contentTypeVersion="12" ma:contentTypeDescription="Create a new document." ma:contentTypeScope="" ma:versionID="9733aeacb51a31fd2347aff2540d3a50">
  <xsd:schema xmlns:xsd="http://www.w3.org/2001/XMLSchema" xmlns:xs="http://www.w3.org/2001/XMLSchema" xmlns:p="http://schemas.microsoft.com/office/2006/metadata/properties" xmlns:ns2="dd5b6b3d-3d39-4526-b8e4-79d21e1438f0" xmlns:ns3="44678d20-5b6e-4792-b133-ca784477d689" targetNamespace="http://schemas.microsoft.com/office/2006/metadata/properties" ma:root="true" ma:fieldsID="37926f2f1ae8b3f68e3dbd3dffff8aa9" ns2:_="" ns3:_="">
    <xsd:import namespace="dd5b6b3d-3d39-4526-b8e4-79d21e1438f0"/>
    <xsd:import namespace="44678d20-5b6e-4792-b133-ca784477d68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b6b3d-3d39-4526-b8e4-79d21e1438f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78d20-5b6e-4792-b133-ca784477d68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ae8ad495-3829-482e-ad1b-cf0f2662c940}" ma:internalName="TaxCatchAll" ma:showField="CatchAllData" ma:web="44678d20-5b6e-4792-b133-ca784477d6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d5b6b3d-3d39-4526-b8e4-79d21e1438f0">
      <Terms xmlns="http://schemas.microsoft.com/office/infopath/2007/PartnerControls"/>
    </lcf76f155ced4ddcb4097134ff3c332f>
    <TaxCatchAll xmlns="44678d20-5b6e-4792-b133-ca784477d689" xsi:nil="true"/>
    <ReferenceId xmlns="dd5b6b3d-3d39-4526-b8e4-79d21e1438f0" xsi:nil="true"/>
  </documentManagement>
</p:properties>
</file>

<file path=customXml/itemProps1.xml><?xml version="1.0" encoding="utf-8"?>
<ds:datastoreItem xmlns:ds="http://schemas.openxmlformats.org/officeDocument/2006/customXml" ds:itemID="{14415AE5-548D-4EF6-AD04-0B1555F77BD6}"/>
</file>

<file path=customXml/itemProps2.xml><?xml version="1.0" encoding="utf-8"?>
<ds:datastoreItem xmlns:ds="http://schemas.openxmlformats.org/officeDocument/2006/customXml" ds:itemID="{6FB3EDFB-15C1-4A94-B161-D104E4D609E8}"/>
</file>

<file path=customXml/itemProps3.xml><?xml version="1.0" encoding="utf-8"?>
<ds:datastoreItem xmlns:ds="http://schemas.openxmlformats.org/officeDocument/2006/customXml" ds:itemID="{C5E3CD32-F5A4-4A8B-BC8F-17B695A46EB8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1393</Words>
  <Application>Microsoft Office PowerPoint</Application>
  <PresentationFormat>Widescreen</PresentationFormat>
  <Paragraphs>179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Laxmi Bonde</dc:creator>
  <cp:keywords/>
  <dc:description>generated using python-pptx</dc:description>
  <cp:lastModifiedBy>Laxmi Bonde</cp:lastModifiedBy>
  <cp:revision>2</cp:revision>
  <dcterms:created xsi:type="dcterms:W3CDTF">2013-01-27T09:14:16Z</dcterms:created>
  <dcterms:modified xsi:type="dcterms:W3CDTF">2026-09-29T06:51:21Z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0x010100B17A232B3FA31C48ADAF29702DE3C893</vt:lpwstr>
  </property>
</Properties>
</file>